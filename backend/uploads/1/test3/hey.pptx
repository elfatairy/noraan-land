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25B30B-6A14-AB59-C2C0-0E57CE521322}" v="484" dt="2024-10-21T15:44:40.2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F28B-45E3-4585-87E3-73838692A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68049"/>
            <a:ext cx="7626795" cy="2841914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755B0-E17A-4B52-A99D-C35BB18BB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602038"/>
            <a:ext cx="7626795" cy="250172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90C28-805B-4DA6-A10E-651C0FD01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BBA9-C52F-4628-AE0D-DCD1772F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BAC57-F8E1-4B54-A111-CB53B32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319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2C84-1247-4534-81D1-136C3E1E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D490-CEA6-4844-A537-F749658D3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AEFC9-887F-4E73-9938-6032D528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CF0CF-134A-404E-A177-9FAAA039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1B0DC-2D2C-408B-A577-904A2385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94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5431-EF88-4771-9699-27EF70A5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50"/>
            <a:ext cx="7673389" cy="3816588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F57C3-A928-4093-B3FC-ECC2194AE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767338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D625-A893-46D3-A518-9E969CB4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AD37A-B380-4B65-9FB9-3FB91412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773B6-CD13-4451-9BF3-C4102BA5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91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1FBD0A-9F7B-4EBB-9982-B55F5F980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88CFF0B8-0BA9-4DD9-B7B2-0655DC841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7B910E-9B87-4291-987B-6883212CB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5596CF7-55B3-409D-A36C-F5BE9D625628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245D23-45D8-474C-8A38-633E99962676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8A8D14-28CA-4095-B2FA-E48B3150A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1D1F176A-19F1-4537-800D-210F29EC1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04C26-6125-4D95-9FC0-50DEB9419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1534" cy="1591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401A-13E5-4CED-864F-06D6EECCB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341329"/>
            <a:ext cx="5562600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13523-8F78-4766-91D7-03E329B68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41329"/>
            <a:ext cx="4736534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B757F-BAD2-4343-BD57-FC02D0BE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0EF3C-A61E-4F43-9C8F-BC9A6455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9D947-1DC8-4CE9-A031-6EEB776B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7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BFA9BB-A51E-4D09-8602-5AD90104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olor Fill">
            <a:extLst>
              <a:ext uri="{FF2B5EF4-FFF2-40B4-BE49-F238E27FC236}">
                <a16:creationId xmlns:a16="http://schemas.microsoft.com/office/drawing/2014/main" id="{A60257A1-779B-4048-BC0D-1EA579B5B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F4B5D0-AA24-4702-9C01-FC1A03E7B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CBF9BD-1EB2-4122-98FE-F2B5DF8771C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C41FF89-01DF-4236-AA4D-243CB8A464B3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D03BB88-350D-4DE0-BB34-870F64356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5" name="Texture">
            <a:extLst>
              <a:ext uri="{FF2B5EF4-FFF2-40B4-BE49-F238E27FC236}">
                <a16:creationId xmlns:a16="http://schemas.microsoft.com/office/drawing/2014/main" id="{4A8025C0-8995-4863-A847-7ED1F8CCE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62335-6445-435C-A1C6-9F090B96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0629" cy="1325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74B3D-418F-464D-91E7-993D0B480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086" y="2182814"/>
            <a:ext cx="5021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4709-9362-4AB5-9AA2-32F51BF06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086" y="3115949"/>
            <a:ext cx="502151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83836-1CF5-406F-B0CB-643F37066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90597" y="2182814"/>
            <a:ext cx="50172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A8670-0F33-4222-AAC9-96A21C47C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90597" y="3115949"/>
            <a:ext cx="501723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E6970-4A96-4519-9C0E-11E245D5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E249-70F5-4359-B699-23D68A5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AE510-A38C-45EE-B061-CB02E4E3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79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9D1A-F943-4838-BA2F-6DF4F2EC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638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EE401-3424-4696-A6FC-BBEE7937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9D767-A30A-4508-B510-99AB9173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979DC-F3D5-43AB-8A0F-9C8A14E0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422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CDA0B-9BEE-4B57-8F97-96D5645D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2AF2-09A1-4A1C-AEB6-577962B7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99D9-82B1-496C-ABBC-4FF0C375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648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D9AFA4-EB8E-4091-A5E2-1B9D163A0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F25018FE-FB44-4E2E-A181-B3476F3E8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C7CD4B-70DE-49E2-A336-B6F43F58F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4B8BFC9-6F67-47CB-BAE4-45260FBAF397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40F836E5-3C5B-4DE7-B09A-AE00DEE730A9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8E1B8E4-080E-4F43-B33F-59DD21B6B658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07639D4-740A-4B71-8393-99CA375EB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AE7E56E5-1F6A-442B-B5E0-ED19F815D2E2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3774E986-8FE2-4670-A4C0-96E213269BD7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3A5846DF-A106-4887-BE2C-DCD89DAA6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7E81C-AA51-44A0-B21C-757B2F3B9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195782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438A-298D-4466-B55D-F466C345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68049"/>
            <a:ext cx="4875212" cy="523125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43104-0579-4974-88D2-61DF1A30D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749024"/>
            <a:ext cx="4314825" cy="31199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2755-0632-47CB-AA69-7EFB212F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D0B4F-5B59-4064-A88B-E9938A40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12E7F-93B8-4E93-BCB3-ADE74FC1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03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3C1870-4E69-4DE7-BF2F-DE8A7881C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7439AB1C-A8A1-4745-9625-B18FE916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DDC4D-D9AA-48F8-BD10-2D20F1460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136312-3085-4615-A743-4EE531585B11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29539FE4-376B-4187-A80A-C98EBA23DA30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11DC5D7-2276-4A57-8783-A0EFB00416E9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D5B578-4971-4ADC-97D8-B9CEF52AA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2D968E77-E43D-4870-93BC-CBF1947336B3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1221D41A-E71E-4587-A876-F8778E7C03E1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50457195-385D-490A-91AB-30B969C61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06FF6D-24FA-4E04-90ED-7DBE228B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2235711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32D78B-0E21-420F-9DFF-6131CB0F7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68049"/>
            <a:ext cx="4958436" cy="52312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2A57-1064-4391-B96B-4D04305E0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941222"/>
            <a:ext cx="4314825" cy="292776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04EB0-850A-4256-8D12-E01A201A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CF4AF-C757-4552-AB8A-3B89C374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2A368-F12B-4B5E-82F0-A6AEE6AF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136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5B40-C529-41A6-8D06-07AF9430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5A354-E2A8-4A91-9D7A-36D9E0915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D3944-2E3D-42BC-B83D-7630699D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C57FA-204E-4A7A-BAE2-DF17BB0F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DA36D-49FF-495A-8E25-4CCC98E3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57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4ECD05-4E94-4A60-8FDA-700BF100B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olor Fill">
            <a:extLst>
              <a:ext uri="{FF2B5EF4-FFF2-40B4-BE49-F238E27FC236}">
                <a16:creationId xmlns:a16="http://schemas.microsoft.com/office/drawing/2014/main" id="{8BCB0EB2-4067-418C-9465-9D4C71240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E37999-41E7-446D-8C53-B904C3CE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38A90E8-87F8-4150-B5EB-E19C8A01AFB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Graphic 9">
              <a:extLst>
                <a:ext uri="{FF2B5EF4-FFF2-40B4-BE49-F238E27FC236}">
                  <a16:creationId xmlns:a16="http://schemas.microsoft.com/office/drawing/2014/main" id="{724DCA1C-A8E8-4F90-8FAE-85B1426C108A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8D6291-6756-44E3-9FCE-0B2ECA5EE664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37CA96E-9DD9-4172-B63B-50DF43B57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B335AFFE-BF3D-491C-8255-692B9DAC6775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4" name="Graphic 9">
              <a:extLst>
                <a:ext uri="{FF2B5EF4-FFF2-40B4-BE49-F238E27FC236}">
                  <a16:creationId xmlns:a16="http://schemas.microsoft.com/office/drawing/2014/main" id="{AA052AAF-7A7C-4EDB-AE2C-FCA3A756C4E5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31F99E9D-6528-47AC-B178-7032D0E17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DD302-622D-4E42-BD6F-FAAA98B37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6311" y="668049"/>
            <a:ext cx="2628900" cy="5508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0D9F5-C907-405F-BE11-571C61745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668049"/>
            <a:ext cx="6689098" cy="5508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FD860-3FBD-4FE7-A9FD-1D4A4D10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367B-81B3-4BD3-9C95-18EC0710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D8E54-346D-4D66-BF99-96DA43F8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272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</a:extLst>
            </p:cNvPr>
            <p:cNvSpPr/>
            <p:nvPr/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</a:extLst>
            </p:cNvPr>
            <p:cNvSpPr/>
            <p:nvPr/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</a:extLst>
            </p:cNvPr>
            <p:cNvSpPr/>
            <p:nvPr/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</a:extLst>
            </p:cNvPr>
            <p:cNvSpPr/>
            <p:nvPr/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</a:extLst>
            </p:cNvPr>
            <p:cNvSpPr/>
            <p:nvPr/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1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3083B5-1505-44FE-894D-AA1AB6D6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3930-F8C8-43B1-BC1A-6264F4ACB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96713"/>
            <a:ext cx="7685037" cy="4080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4F2F7-3ECA-43D7-BFF3-FBB407AEA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10/21/2024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A193F-0B61-43DD-8E45-EFEAC43E3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1554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25961-D3A8-4945-AEE4-EE1952DBD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1131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13" r:id="rId6"/>
    <p:sldLayoutId id="2147483718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A7971386-B2B0-4A38-8D3B-8CF23AAA6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96AE4BD0-E2D6-4FE1-9295-59E338A45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Texture">
            <a:extLst>
              <a:ext uri="{FF2B5EF4-FFF2-40B4-BE49-F238E27FC236}">
                <a16:creationId xmlns:a16="http://schemas.microsoft.com/office/drawing/2014/main" id="{0D29D77D-2D4E-4868-960B-BEDA724F5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7" y="-1"/>
            <a:ext cx="12195048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676656"/>
            <a:ext cx="3277432" cy="3063240"/>
          </a:xfrm>
        </p:spPr>
        <p:txBody>
          <a:bodyPr>
            <a:normAutofit/>
          </a:bodyPr>
          <a:lstStyle/>
          <a:p>
            <a:r>
              <a:rPr lang="en-US" sz="4600"/>
              <a:t>Geothermal Energy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840481"/>
            <a:ext cx="3277432" cy="234727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Heat of the earth</a:t>
            </a:r>
          </a:p>
        </p:txBody>
      </p:sp>
      <p:pic>
        <p:nvPicPr>
          <p:cNvPr id="4" name="Picture 3" descr="Earth Heat Celsius">
            <a:extLst>
              <a:ext uri="{FF2B5EF4-FFF2-40B4-BE49-F238E27FC236}">
                <a16:creationId xmlns:a16="http://schemas.microsoft.com/office/drawing/2014/main" id="{CD3C9DAB-AA2C-5BE4-4688-BDB03474B9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82" r="11668"/>
          <a:stretch/>
        </p:blipFill>
        <p:spPr>
          <a:xfrm>
            <a:off x="3957208" y="10"/>
            <a:ext cx="8234792" cy="6857990"/>
          </a:xfrm>
          <a:custGeom>
            <a:avLst/>
            <a:gdLst/>
            <a:ahLst/>
            <a:cxnLst/>
            <a:rect l="l" t="t" r="r" b="b"/>
            <a:pathLst>
              <a:path w="8234792" h="6821666">
                <a:moveTo>
                  <a:pt x="2322410" y="0"/>
                </a:moveTo>
                <a:lnTo>
                  <a:pt x="8234792" y="0"/>
                </a:lnTo>
                <a:lnTo>
                  <a:pt x="8234792" y="4503719"/>
                </a:lnTo>
                <a:lnTo>
                  <a:pt x="8215888" y="4629599"/>
                </a:lnTo>
                <a:cubicBezTo>
                  <a:pt x="8049795" y="5454493"/>
                  <a:pt x="7647096" y="6191792"/>
                  <a:pt x="7082996" y="6765066"/>
                </a:cubicBezTo>
                <a:lnTo>
                  <a:pt x="7021717" y="6821666"/>
                </a:lnTo>
                <a:lnTo>
                  <a:pt x="0" y="6821666"/>
                </a:lnTo>
                <a:lnTo>
                  <a:pt x="0" y="3790727"/>
                </a:lnTo>
                <a:cubicBezTo>
                  <a:pt x="0" y="2186928"/>
                  <a:pt x="879517" y="791919"/>
                  <a:pt x="2175128" y="7665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24637-5D46-46FC-040F-9252984A2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4304"/>
            <a:ext cx="7685037" cy="1325563"/>
          </a:xfrm>
        </p:spPr>
        <p:txBody>
          <a:bodyPr/>
          <a:lstStyle/>
          <a:p>
            <a:r>
              <a:rPr lang="en-US" dirty="0"/>
              <a:t>Processes</a:t>
            </a:r>
          </a:p>
        </p:txBody>
      </p:sp>
      <p:pic>
        <p:nvPicPr>
          <p:cNvPr id="4" name="Picture 3" descr="Formation of The Earth : Earth's Birth, Timeline and Layering">
            <a:extLst>
              <a:ext uri="{FF2B5EF4-FFF2-40B4-BE49-F238E27FC236}">
                <a16:creationId xmlns:a16="http://schemas.microsoft.com/office/drawing/2014/main" id="{946F7DC3-320D-E252-01F6-FBA8673487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26" r="20526" b="-469"/>
          <a:stretch/>
        </p:blipFill>
        <p:spPr>
          <a:xfrm>
            <a:off x="3984812" y="653766"/>
            <a:ext cx="2508799" cy="24016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5910DA-D6AC-1D9F-D280-B1758AEB5900}"/>
              </a:ext>
            </a:extLst>
          </p:cNvPr>
          <p:cNvSpPr txBox="1"/>
          <p:nvPr/>
        </p:nvSpPr>
        <p:spPr>
          <a:xfrm>
            <a:off x="4305108" y="3143895"/>
            <a:ext cx="18915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Earth's Formation</a:t>
            </a:r>
          </a:p>
        </p:txBody>
      </p:sp>
      <p:pic>
        <p:nvPicPr>
          <p:cNvPr id="6" name="Picture 5" descr="‪Explainer: Radiation and radioactive decay‬‏">
            <a:extLst>
              <a:ext uri="{FF2B5EF4-FFF2-40B4-BE49-F238E27FC236}">
                <a16:creationId xmlns:a16="http://schemas.microsoft.com/office/drawing/2014/main" id="{8F1E6486-1A8E-2B36-A6D3-AF1D671AA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229" y="648821"/>
            <a:ext cx="2694454" cy="24115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415A84-62F5-B80A-0670-688D05E2302A}"/>
              </a:ext>
            </a:extLst>
          </p:cNvPr>
          <p:cNvSpPr txBox="1"/>
          <p:nvPr/>
        </p:nvSpPr>
        <p:spPr>
          <a:xfrm>
            <a:off x="7790136" y="3143895"/>
            <a:ext cx="32138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Decay of radioactive elements</a:t>
            </a:r>
          </a:p>
        </p:txBody>
      </p:sp>
      <p:pic>
        <p:nvPicPr>
          <p:cNvPr id="9" name="Picture 8" descr="Bites of Curiosity | Friction in the Natural World">
            <a:extLst>
              <a:ext uri="{FF2B5EF4-FFF2-40B4-BE49-F238E27FC236}">
                <a16:creationId xmlns:a16="http://schemas.microsoft.com/office/drawing/2014/main" id="{BF3416A3-39AE-0190-C0A9-EBFAD7810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312" y="3712627"/>
            <a:ext cx="9265020" cy="20437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4F77AF-4086-8B68-A5C0-5AB5EB95BD2B}"/>
              </a:ext>
            </a:extLst>
          </p:cNvPr>
          <p:cNvSpPr txBox="1"/>
          <p:nvPr/>
        </p:nvSpPr>
        <p:spPr>
          <a:xfrm>
            <a:off x="5537754" y="5922953"/>
            <a:ext cx="18915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Friction</a:t>
            </a:r>
          </a:p>
        </p:txBody>
      </p:sp>
    </p:spTree>
    <p:extLst>
      <p:ext uri="{BB962C8B-B14F-4D97-AF65-F5344CB8AC3E}">
        <p14:creationId xmlns:p14="http://schemas.microsoft.com/office/powerpoint/2010/main" val="3997556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072A1-08F1-90A0-13A1-E412B3D48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8961"/>
            <a:ext cx="7685037" cy="1325563"/>
          </a:xfrm>
        </p:spPr>
        <p:txBody>
          <a:bodyPr/>
          <a:lstStyle/>
          <a:p>
            <a:r>
              <a:rPr lang="en-US" dirty="0"/>
              <a:t>Geothermal Reservoirs</a:t>
            </a:r>
          </a:p>
        </p:txBody>
      </p:sp>
      <p:pic>
        <p:nvPicPr>
          <p:cNvPr id="4" name="Picture 3" descr="Geyser | Definition, Formation, Locations, &amp; Facts | Britannica">
            <a:extLst>
              <a:ext uri="{FF2B5EF4-FFF2-40B4-BE49-F238E27FC236}">
                <a16:creationId xmlns:a16="http://schemas.microsoft.com/office/drawing/2014/main" id="{A124001B-B031-B458-F721-EA899A97B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55" y="2393880"/>
            <a:ext cx="2862943" cy="21444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DC1E17-5745-6F4B-9FA0-EE2B03E01F86}"/>
              </a:ext>
            </a:extLst>
          </p:cNvPr>
          <p:cNvSpPr txBox="1"/>
          <p:nvPr/>
        </p:nvSpPr>
        <p:spPr>
          <a:xfrm>
            <a:off x="1207983" y="4659801"/>
            <a:ext cx="18915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Geysers</a:t>
            </a:r>
          </a:p>
        </p:txBody>
      </p:sp>
      <p:pic>
        <p:nvPicPr>
          <p:cNvPr id="7" name="Picture 6" descr="‪4,900+ Boiling Mud Stock Photos, Pictures &amp; Royalty-Free Images - iStock |  Mud pool, Bubbles‬‏">
            <a:extLst>
              <a:ext uri="{FF2B5EF4-FFF2-40B4-BE49-F238E27FC236}">
                <a16:creationId xmlns:a16="http://schemas.microsoft.com/office/drawing/2014/main" id="{61703CC9-4012-7D18-E63B-B92318FF9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5699" y="2390008"/>
            <a:ext cx="3196667" cy="21391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1AEA94-3676-77A2-CA42-6A62904827ED}"/>
              </a:ext>
            </a:extLst>
          </p:cNvPr>
          <p:cNvSpPr txBox="1"/>
          <p:nvPr/>
        </p:nvSpPr>
        <p:spPr>
          <a:xfrm>
            <a:off x="4561342" y="4659801"/>
            <a:ext cx="18915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Boiling mud pots</a:t>
            </a:r>
          </a:p>
        </p:txBody>
      </p:sp>
      <p:pic>
        <p:nvPicPr>
          <p:cNvPr id="9" name="Picture 8" descr="‪Disasters explained: volcanoes - ShelterBox‬‏">
            <a:extLst>
              <a:ext uri="{FF2B5EF4-FFF2-40B4-BE49-F238E27FC236}">
                <a16:creationId xmlns:a16="http://schemas.microsoft.com/office/drawing/2014/main" id="{7BDBE863-10FE-9724-2E04-B62151A56C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3743" y="2387844"/>
            <a:ext cx="2877282" cy="21409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9E7BE69-4356-FCC7-BC7D-06B7FD056407}"/>
              </a:ext>
            </a:extLst>
          </p:cNvPr>
          <p:cNvSpPr txBox="1"/>
          <p:nvPr/>
        </p:nvSpPr>
        <p:spPr>
          <a:xfrm>
            <a:off x="8596034" y="4659801"/>
            <a:ext cx="18915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Volcanos</a:t>
            </a:r>
          </a:p>
        </p:txBody>
      </p:sp>
    </p:spTree>
    <p:extLst>
      <p:ext uri="{BB962C8B-B14F-4D97-AF65-F5344CB8AC3E}">
        <p14:creationId xmlns:p14="http://schemas.microsoft.com/office/powerpoint/2010/main" val="2220107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0D366-6D25-6071-8A2D-ABAD94D67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2580" y="903983"/>
            <a:ext cx="7685037" cy="1325563"/>
          </a:xfrm>
        </p:spPr>
        <p:txBody>
          <a:bodyPr/>
          <a:lstStyle/>
          <a:p>
            <a:r>
              <a:rPr lang="en-US" dirty="0"/>
              <a:t>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C3C16-5D9A-83C0-C814-34C24706A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0531" y="3195551"/>
            <a:ext cx="1923064" cy="6460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Direct Uses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D7FC2F1-2487-EC40-0298-796EF4DA1F2D}"/>
              </a:ext>
            </a:extLst>
          </p:cNvPr>
          <p:cNvSpPr txBox="1">
            <a:spLocks/>
          </p:cNvSpPr>
          <p:nvPr/>
        </p:nvSpPr>
        <p:spPr>
          <a:xfrm>
            <a:off x="6958931" y="3191644"/>
            <a:ext cx="1923064" cy="646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Indirect Uses</a:t>
            </a:r>
          </a:p>
        </p:txBody>
      </p:sp>
    </p:spTree>
    <p:extLst>
      <p:ext uri="{BB962C8B-B14F-4D97-AF65-F5344CB8AC3E}">
        <p14:creationId xmlns:p14="http://schemas.microsoft.com/office/powerpoint/2010/main" val="3030857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F7E67-8C7C-9F2A-9723-A7E266E73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871"/>
            <a:ext cx="7685037" cy="1325563"/>
          </a:xfrm>
        </p:spPr>
        <p:txBody>
          <a:bodyPr/>
          <a:lstStyle/>
          <a:p>
            <a:r>
              <a:rPr lang="en-US" dirty="0"/>
              <a:t>Direct Uses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E17F38-EAC1-3988-3679-5B70EDFF64A4}"/>
              </a:ext>
            </a:extLst>
          </p:cNvPr>
          <p:cNvSpPr txBox="1"/>
          <p:nvPr/>
        </p:nvSpPr>
        <p:spPr>
          <a:xfrm>
            <a:off x="1667271" y="3522020"/>
            <a:ext cx="18915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Spas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014B3E-4377-D44A-8AE4-FBD7210ACDD4}"/>
              </a:ext>
            </a:extLst>
          </p:cNvPr>
          <p:cNvSpPr txBox="1"/>
          <p:nvPr/>
        </p:nvSpPr>
        <p:spPr>
          <a:xfrm>
            <a:off x="5156329" y="3522020"/>
            <a:ext cx="18915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Fish Farms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D1502A-5E68-73EA-9590-30A73C91B6C8}"/>
              </a:ext>
            </a:extLst>
          </p:cNvPr>
          <p:cNvSpPr txBox="1"/>
          <p:nvPr/>
        </p:nvSpPr>
        <p:spPr>
          <a:xfrm>
            <a:off x="9191021" y="3522020"/>
            <a:ext cx="18915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Heating Buildings</a:t>
            </a:r>
          </a:p>
        </p:txBody>
      </p:sp>
      <p:pic>
        <p:nvPicPr>
          <p:cNvPr id="16" name="Picture 15" descr="‪Free Mountain Hot Springs Image | Download at StockCake‬‏">
            <a:extLst>
              <a:ext uri="{FF2B5EF4-FFF2-40B4-BE49-F238E27FC236}">
                <a16:creationId xmlns:a16="http://schemas.microsoft.com/office/drawing/2014/main" id="{FF8A399B-CE25-CFBD-4144-D99FD0877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74" y="1523123"/>
            <a:ext cx="3212926" cy="1891095"/>
          </a:xfrm>
          <a:prstGeom prst="rect">
            <a:avLst/>
          </a:prstGeom>
        </p:spPr>
      </p:pic>
      <p:pic>
        <p:nvPicPr>
          <p:cNvPr id="17" name="Picture 16" descr="‪What is Aquaculture?‬‏">
            <a:extLst>
              <a:ext uri="{FF2B5EF4-FFF2-40B4-BE49-F238E27FC236}">
                <a16:creationId xmlns:a16="http://schemas.microsoft.com/office/drawing/2014/main" id="{6C299D1B-790B-30AD-D7F5-5B116CDBB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378" y="1525370"/>
            <a:ext cx="3579051" cy="1886602"/>
          </a:xfrm>
          <a:prstGeom prst="rect">
            <a:avLst/>
          </a:prstGeom>
        </p:spPr>
      </p:pic>
      <p:pic>
        <p:nvPicPr>
          <p:cNvPr id="18" name="Picture 17" descr="BiodegrATES - groundwater used for heating and cooling - Heat Exchanger  World">
            <a:extLst>
              <a:ext uri="{FF2B5EF4-FFF2-40B4-BE49-F238E27FC236}">
                <a16:creationId xmlns:a16="http://schemas.microsoft.com/office/drawing/2014/main" id="{9913F73F-3369-3B3F-CBA9-A86583F2A0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2044" y="1511474"/>
            <a:ext cx="3672213" cy="1893517"/>
          </a:xfrm>
          <a:prstGeom prst="rect">
            <a:avLst/>
          </a:prstGeom>
        </p:spPr>
      </p:pic>
      <p:pic>
        <p:nvPicPr>
          <p:cNvPr id="19" name="Picture 18" descr="‪Greenhouse | Definition, Types, &amp; Uses | Britannica‬‏">
            <a:extLst>
              <a:ext uri="{FF2B5EF4-FFF2-40B4-BE49-F238E27FC236}">
                <a16:creationId xmlns:a16="http://schemas.microsoft.com/office/drawing/2014/main" id="{F6E9E0FC-EF23-D00F-8CCB-92302EFFEE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9855" y="4102143"/>
            <a:ext cx="2613111" cy="190004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560F1F8-A5A2-D799-9B91-3C964F6444A5}"/>
              </a:ext>
            </a:extLst>
          </p:cNvPr>
          <p:cNvSpPr txBox="1"/>
          <p:nvPr/>
        </p:nvSpPr>
        <p:spPr>
          <a:xfrm>
            <a:off x="2805052" y="6110732"/>
            <a:ext cx="18915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Greenhouses</a:t>
            </a:r>
          </a:p>
        </p:txBody>
      </p:sp>
      <p:pic>
        <p:nvPicPr>
          <p:cNvPr id="21" name="Picture 20" descr="‪Industrial heat pumps for heating solutions | Danfoss‬‏">
            <a:extLst>
              <a:ext uri="{FF2B5EF4-FFF2-40B4-BE49-F238E27FC236}">
                <a16:creationId xmlns:a16="http://schemas.microsoft.com/office/drawing/2014/main" id="{BB3914FB-9351-859F-AE18-8118F5DEF1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9272" y="4071025"/>
            <a:ext cx="2619375" cy="173263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254DCDC-A1AA-FD65-FCA1-24C311D15F33}"/>
              </a:ext>
            </a:extLst>
          </p:cNvPr>
          <p:cNvSpPr txBox="1"/>
          <p:nvPr/>
        </p:nvSpPr>
        <p:spPr>
          <a:xfrm>
            <a:off x="6218395" y="5954157"/>
            <a:ext cx="2215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Heating in industries</a:t>
            </a:r>
          </a:p>
        </p:txBody>
      </p:sp>
    </p:spTree>
    <p:extLst>
      <p:ext uri="{BB962C8B-B14F-4D97-AF65-F5344CB8AC3E}">
        <p14:creationId xmlns:p14="http://schemas.microsoft.com/office/powerpoint/2010/main" val="3121204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21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23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 useBgFill="1">
        <p:nvSpPr>
          <p:cNvPr id="25" name="Background Fill">
            <a:extLst>
              <a:ext uri="{FF2B5EF4-FFF2-40B4-BE49-F238E27FC236}">
                <a16:creationId xmlns:a16="http://schemas.microsoft.com/office/drawing/2014/main" id="{A7971386-B2B0-4A38-8D3B-8CF23AAA6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Color Fill">
            <a:extLst>
              <a:ext uri="{FF2B5EF4-FFF2-40B4-BE49-F238E27FC236}">
                <a16:creationId xmlns:a16="http://schemas.microsoft.com/office/drawing/2014/main" id="{96AE4BD0-E2D6-4FE1-9295-59E338A45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ure">
            <a:extLst>
              <a:ext uri="{FF2B5EF4-FFF2-40B4-BE49-F238E27FC236}">
                <a16:creationId xmlns:a16="http://schemas.microsoft.com/office/drawing/2014/main" id="{0D29D77D-2D4E-4868-960B-BEDA724F5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7" y="-1"/>
            <a:ext cx="12195048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FABFF8-93AE-F23F-6067-53AF75838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6656"/>
            <a:ext cx="3277432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Indirect Uses</a:t>
            </a:r>
          </a:p>
        </p:txBody>
      </p:sp>
      <p:pic>
        <p:nvPicPr>
          <p:cNvPr id="7" name="Picture 6" descr="A diagram of a geothermal energy&#10;&#10;Description automatically generated">
            <a:extLst>
              <a:ext uri="{FF2B5EF4-FFF2-40B4-BE49-F238E27FC236}">
                <a16:creationId xmlns:a16="http://schemas.microsoft.com/office/drawing/2014/main" id="{03F38707-1B06-7D43-8459-08417B4F67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80"/>
          <a:stretch/>
        </p:blipFill>
        <p:spPr>
          <a:xfrm>
            <a:off x="3957208" y="10"/>
            <a:ext cx="8234792" cy="6857990"/>
          </a:xfrm>
          <a:custGeom>
            <a:avLst/>
            <a:gdLst/>
            <a:ahLst/>
            <a:cxnLst/>
            <a:rect l="l" t="t" r="r" b="b"/>
            <a:pathLst>
              <a:path w="8234792" h="6821666">
                <a:moveTo>
                  <a:pt x="2322410" y="0"/>
                </a:moveTo>
                <a:lnTo>
                  <a:pt x="8234792" y="0"/>
                </a:lnTo>
                <a:lnTo>
                  <a:pt x="8234792" y="4503719"/>
                </a:lnTo>
                <a:lnTo>
                  <a:pt x="8215888" y="4629599"/>
                </a:lnTo>
                <a:cubicBezTo>
                  <a:pt x="8049795" y="5454493"/>
                  <a:pt x="7647096" y="6191792"/>
                  <a:pt x="7082996" y="6765066"/>
                </a:cubicBezTo>
                <a:lnTo>
                  <a:pt x="7021717" y="6821666"/>
                </a:lnTo>
                <a:lnTo>
                  <a:pt x="0" y="6821666"/>
                </a:lnTo>
                <a:lnTo>
                  <a:pt x="0" y="3790727"/>
                </a:lnTo>
                <a:cubicBezTo>
                  <a:pt x="0" y="2186928"/>
                  <a:pt x="879517" y="791919"/>
                  <a:pt x="2175128" y="7665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79350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EE2BB-A7AE-7AA4-888F-0E6AE9E6E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585" y="1273741"/>
            <a:ext cx="7685037" cy="1325563"/>
          </a:xfrm>
        </p:spPr>
        <p:txBody>
          <a:bodyPr>
            <a:normAutofit/>
          </a:bodyPr>
          <a:lstStyle/>
          <a:p>
            <a:r>
              <a:rPr lang="en-US" sz="6000" dirty="0"/>
              <a:t>Advantages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295213E-C281-B380-7176-37716773304A}"/>
              </a:ext>
            </a:extLst>
          </p:cNvPr>
          <p:cNvSpPr txBox="1">
            <a:spLocks/>
          </p:cNvSpPr>
          <p:nvPr/>
        </p:nvSpPr>
        <p:spPr>
          <a:xfrm>
            <a:off x="6930292" y="3604680"/>
            <a:ext cx="768503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/>
              <a:t>Disadvantages</a:t>
            </a:r>
          </a:p>
        </p:txBody>
      </p:sp>
      <p:pic>
        <p:nvPicPr>
          <p:cNvPr id="6" name="Graphic 5" descr="Lightning bolt with solid fill">
            <a:extLst>
              <a:ext uri="{FF2B5EF4-FFF2-40B4-BE49-F238E27FC236}">
                <a16:creationId xmlns:a16="http://schemas.microsoft.com/office/drawing/2014/main" id="{DFB9F4C8-9C05-3022-AE18-5F3F4B442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9954" y="1174262"/>
            <a:ext cx="5457091" cy="543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942644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VTI">
  <a:themeElements>
    <a:clrScheme name="Tropic">
      <a:dk1>
        <a:srgbClr val="000000"/>
      </a:dk1>
      <a:lt1>
        <a:sysClr val="window" lastClr="FFFFFF"/>
      </a:lt1>
      <a:dk2>
        <a:srgbClr val="09392F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68E74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Tropic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opicVTI" id="{DE8751F2-0439-4D1D-A674-AFC241C9701D}" vid="{C41D9140-98E0-4A26-97C4-97FDCB8D6E0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TropicVTI</vt:lpstr>
      <vt:lpstr>Geothermal Energy</vt:lpstr>
      <vt:lpstr>Processes</vt:lpstr>
      <vt:lpstr>Geothermal Reservoirs</vt:lpstr>
      <vt:lpstr>Uses</vt:lpstr>
      <vt:lpstr>Direct Uses</vt:lpstr>
      <vt:lpstr>Indirect Uses</vt:lpstr>
      <vt:lpstr>Advantages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131</cp:revision>
  <dcterms:created xsi:type="dcterms:W3CDTF">2024-10-21T15:18:55Z</dcterms:created>
  <dcterms:modified xsi:type="dcterms:W3CDTF">2024-10-21T15:47:24Z</dcterms:modified>
</cp:coreProperties>
</file>